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1371600"/>
            <a:ext cx="7315200" cy="7315200"/>
          </a:xfrm>
          <a:prstGeom prst="ellipse">
            <a:avLst/>
          </a:prstGeom>
          <a:solidFill>
            <a:srgbClr val="2E7D5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E7D5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NexVerde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FCF97"/>
                </a:solidFill>
                <a:latin typeface="Calibri"/>
              </a:rPr>
              <a:t>Where performance meets the planet.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3886200"/>
            <a:ext cx="6858000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Sustainable Data Centre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Commissioned for Birdy Capital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NexVerde — Built for this.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920240"/>
            <a:ext cx="3566160" cy="3291840"/>
          </a:xfrm>
          <a:prstGeom prst="rect">
            <a:avLst/>
          </a:prstGeom>
          <a:solidFill>
            <a:srgbClr val="1E4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6FCF9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CCCCC"/>
                </a:solidFill>
                <a:latin typeface="Calibri"/>
              </a:rPr>
              <a:t>years in sustainable
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566160" cy="3291840"/>
          </a:xfrm>
          <a:prstGeom prst="rect">
            <a:avLst/>
          </a:prstGeom>
          <a:solidFill>
            <a:srgbClr val="1E4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6FCF97"/>
                </a:solidFill>
                <a:latin typeface="Calibri"/>
              </a:rPr>
              <a:t>€200M+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383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CCCCC"/>
                </a:solidFill>
                <a:latin typeface="Calibri"/>
              </a:rPr>
              <a:t>in delivered projects
across 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20240"/>
            <a:ext cx="3566160" cy="3291840"/>
          </a:xfrm>
          <a:prstGeom prst="rect">
            <a:avLst/>
          </a:prstGeom>
          <a:solidFill>
            <a:srgbClr val="1E4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6FCF97"/>
                </a:solidFill>
                <a:latin typeface="Calibri"/>
              </a:rPr>
              <a:t>ISO 50001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83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CCCCC"/>
                </a:solidFill>
                <a:latin typeface="Calibri"/>
              </a:rPr>
              <a:t>certified · EU
Taxonomy aligned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A  ·  2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Your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What you asked for — and what we commit to.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920240"/>
            <a:ext cx="3566160" cy="365760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109728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FCF97"/>
                </a:solidFill>
                <a:latin typeface="Calibri"/>
              </a:rPr>
              <a:t>TIER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99.982% uptime
Fully redundant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566160" cy="365760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566160" cy="109728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48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FCF97"/>
                </a:solidFill>
                <a:latin typeface="Calibri"/>
              </a:rPr>
              <a:t>NET-ZERO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Carbon trajectory
Measurable milestones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566160" cy="365760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566160" cy="109728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148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FCF97"/>
                </a:solidFill>
                <a:latin typeface="Calibri"/>
              </a:rPr>
              <a:t>€50M / 4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On budget
On time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Calibri"/>
              </a:rPr>
              <a:t>Full brief in your private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A  · 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build.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920240"/>
            <a:ext cx="5943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Modular design — scalable from day one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Tier III redundancy: N+1 on all critical systems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Liquid cooling core  ·  Air-side economisation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  <a:latin typeface="Calibri"/>
              </a:defRPr>
            </a:pPr>
            <a:r>
              <a:t>Full schematics in your portal</a:t>
            </a:r>
          </a:p>
        </p:txBody>
      </p:sp>
      <p:pic>
        <p:nvPicPr>
          <p:cNvPr id="6" name="Picture 5" descr="chart_p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3949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B  ·  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Energy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Your energy — 100% renewable.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0200"/>
            <a:ext cx="50292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60720" y="2194560"/>
            <a:ext cx="73152" cy="64008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On-site solar arrays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566160"/>
            <a:ext cx="73152" cy="640080"/>
          </a:xfrm>
          <a:prstGeom prst="rect">
            <a:avLst/>
          </a:prstGeom>
          <a:solidFill>
            <a:srgbClr val="F2C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474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5661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Wind PPA — locked 15 yrs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4937760"/>
            <a:ext cx="73152" cy="64008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46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9377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Certified green grid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852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FCF97"/>
                </a:solidFill>
                <a:latin typeface="Calibri"/>
              </a:rPr>
              <a:t>100% renewable from day one — contractual guarantee.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Not just compliant — leading.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_car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66751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900">
                <a:solidFill>
                  <a:srgbClr val="FFFFFF"/>
                </a:solidFill>
                <a:latin typeface="Calibri"/>
              </a:defRPr>
            </a:pPr>
            <a:r>
              <a:t>EU Taxonomy  ·  CSRD  ·  EN 50600</a:t>
            </a:r>
          </a:p>
          <a:p>
            <a:pPr>
              <a:spcBef>
                <a:spcPts val="800"/>
              </a:spcBef>
              <a:defRPr sz="1900">
                <a:solidFill>
                  <a:srgbClr val="FFFFFF"/>
                </a:solidFill>
                <a:latin typeface="Calibri"/>
              </a:defRPr>
            </a:pPr>
            <a:r>
              <a:t>Net-zero Y4 — operational, not offset</a:t>
            </a:r>
          </a:p>
          <a:p>
            <a:pPr>
              <a:spcBef>
                <a:spcPts val="800"/>
              </a:spcBef>
              <a:defRPr sz="1900">
                <a:solidFill>
                  <a:srgbClr val="FFFFFF"/>
                </a:solidFill>
                <a:latin typeface="Calibri"/>
              </a:defRPr>
            </a:pPr>
            <a:r>
              <a:t>Circular hardware lifecycle</a:t>
            </a:r>
          </a:p>
          <a:p>
            <a:pPr>
              <a:spcBef>
                <a:spcPts val="800"/>
              </a:spcBef>
              <a:defRPr sz="1900">
                <a:solidFill>
                  <a:srgbClr val="FFFFFF"/>
                </a:solidFill>
                <a:latin typeface="Calibri"/>
              </a:defRPr>
            </a:pPr>
            <a:r>
              <a:t>30% less embodied carbon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B  ·  4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Four risks. All managed.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71323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74980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2E7D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2E7D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E7D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2E7D5A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Supply chain delay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Pre-ordered long-lead items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Energy price spike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15-yr wind PPA locked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Regulatory change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EU-aligned from day one</a:t>
                      </a:r>
                    </a:p>
                  </a:txBody>
                  <a:tcPr>
                    <a:solidFill>
                      <a:srgbClr val="1E4436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Construction overrun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8% contingency built in</a:t>
                      </a:r>
                    </a:p>
                  </a:txBody>
                  <a:tcPr>
                    <a:solidFill>
                      <a:srgbClr val="224D3E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har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429768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B  ·  3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€50M. Fully allocated.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91640"/>
            <a:ext cx="7498079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828800"/>
            <a:ext cx="3657600" cy="118872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828800"/>
            <a:ext cx="91440" cy="118872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874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FCF97"/>
                </a:solidFill>
                <a:latin typeface="Calibri"/>
              </a:rPr>
              <a:t>€50M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420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Total investment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246120"/>
            <a:ext cx="3657600" cy="118872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246120"/>
            <a:ext cx="91440" cy="1188720"/>
          </a:xfrm>
          <a:prstGeom prst="rect">
            <a:avLst/>
          </a:prstGeom>
          <a:solidFill>
            <a:srgbClr val="F2C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918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2C94E"/>
                </a:solidFill>
                <a:latin typeface="Calibri"/>
              </a:rPr>
              <a:t>Year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9593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Breakeven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663440"/>
            <a:ext cx="3657600" cy="118872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663440"/>
            <a:ext cx="91440" cy="118872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709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6FCF97"/>
                </a:solidFill>
                <a:latin typeface="Calibri"/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76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IRR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A  ·  4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4 years. 4 phases.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1161288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A  ·  2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5A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Three steps to begin.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691640"/>
            <a:ext cx="11274552" cy="0"/>
          </a:xfrm>
          <a:prstGeom prst="line">
            <a:avLst/>
          </a:prstGeom>
          <a:ln w="25400">
            <a:solidFill>
              <a:srgbClr val="2E7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920240"/>
            <a:ext cx="3566160" cy="347472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66160" cy="109728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7D5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Sign Letter
of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FCF97"/>
                </a:solidFill>
                <a:latin typeface="Calibri"/>
              </a:rPr>
              <a:t>by [date]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566160" cy="347472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566160" cy="109728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7D5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34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Detailed design
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40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FCF97"/>
                </a:solidFill>
                <a:latin typeface="Calibri"/>
              </a:rPr>
              <a:t>Week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566160" cy="3474720"/>
          </a:xfrm>
          <a:prstGeom prst="rect">
            <a:avLst/>
          </a:prstGeom>
          <a:solidFill>
            <a:srgbClr val="22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566160" cy="109728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7D5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346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Kick-off
meeting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840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FCF97"/>
                </a:solidFill>
                <a:latin typeface="Calibri"/>
              </a:rPr>
              <a:t>Week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69280"/>
            <a:ext cx="11430000" cy="685800"/>
          </a:xfrm>
          <a:prstGeom prst="rect">
            <a:avLst/>
          </a:prstGeom>
          <a:solidFill>
            <a:srgbClr val="1E4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15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FCF97"/>
                </a:solidFill>
                <a:latin typeface="Calibri"/>
              </a:rPr>
              <a:t>Your portal is live — login details on the card in front of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5A"/>
                </a:solidFill>
                <a:latin typeface="Calibri"/>
              </a:rPr>
              <a:t>Speaker: Person A  ·  2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